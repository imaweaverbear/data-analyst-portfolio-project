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40" r:id="rId5"/>
  </p:sldMasterIdLst>
  <p:notesMasterIdLst>
    <p:notesMasterId r:id="rId24"/>
  </p:notesMasterIdLst>
  <p:sldIdLst>
    <p:sldId id="263" r:id="rId6"/>
    <p:sldId id="264" r:id="rId7"/>
    <p:sldId id="259" r:id="rId8"/>
    <p:sldId id="268" r:id="rId9"/>
    <p:sldId id="260" r:id="rId10"/>
    <p:sldId id="269" r:id="rId11"/>
    <p:sldId id="262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50" d="100"/>
          <a:sy n="50" d="100"/>
        </p:scale>
        <p:origin x="112" y="136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C1934-5909-47DD-BE41-A9D886F6D975}" type="datetimeFigureOut">
              <a:rPr lang="en-ID" smtClean="0"/>
              <a:t>22/04/2026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095F0-9296-4232-A377-13DAC0AD0AE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598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95F0-9296-4232-A377-13DAC0AD0AE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310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95F0-9296-4232-A377-13DAC0AD0AE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1609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95F0-9296-4232-A377-13DAC0AD0AE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069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95F0-9296-4232-A377-13DAC0AD0AE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94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95F0-9296-4232-A377-13DAC0AD0AEC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211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3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7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4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1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4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4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7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7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9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13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7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29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52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98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389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95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04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42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76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639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3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7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kaggle.com/datasets/ravindrasinghrana/employeedatase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9DD9-0034-AFE4-A5DD-744C1F4E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0"/>
            <a:ext cx="8991600" cy="1828800"/>
          </a:xfrm>
          <a:noFill/>
          <a:ln>
            <a:solidFill>
              <a:schemeClr val="tx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b="1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Employee’s hiring distribution and rating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63EA2-2C4C-507A-0A3F-82FC11F70606}"/>
              </a:ext>
            </a:extLst>
          </p:cNvPr>
          <p:cNvSpPr txBox="1"/>
          <p:nvPr/>
        </p:nvSpPr>
        <p:spPr>
          <a:xfrm>
            <a:off x="4389120" y="3078803"/>
            <a:ext cx="77002" cy="9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20608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9DD9-0034-AFE4-A5DD-744C1F4EAB89}"/>
              </a:ext>
            </a:extLst>
          </p:cNvPr>
          <p:cNvSpPr txBox="1">
            <a:spLocks/>
          </p:cNvSpPr>
          <p:nvPr/>
        </p:nvSpPr>
        <p:spPr>
          <a:xfrm>
            <a:off x="0" y="5705337"/>
            <a:ext cx="10341864" cy="1152663"/>
          </a:xfrm>
          <a:prstGeom prst="rect">
            <a:avLst/>
          </a:prstGeom>
          <a:noFill/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INTRODUCTION.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9476B9-09FE-2C95-0852-0391D9BB4FDB}"/>
              </a:ext>
            </a:extLst>
          </p:cNvPr>
          <p:cNvSpPr txBox="1">
            <a:spLocks/>
          </p:cNvSpPr>
          <p:nvPr/>
        </p:nvSpPr>
        <p:spPr>
          <a:xfrm>
            <a:off x="0" y="5705337"/>
            <a:ext cx="10341864" cy="1152663"/>
          </a:xfrm>
          <a:prstGeom prst="rect">
            <a:avLst/>
          </a:prstGeom>
          <a:noFill/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INTRODUCTION..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C4759-A6FD-F8E8-D7C0-445E490E97BC}"/>
              </a:ext>
            </a:extLst>
          </p:cNvPr>
          <p:cNvSpPr txBox="1">
            <a:spLocks/>
          </p:cNvSpPr>
          <p:nvPr/>
        </p:nvSpPr>
        <p:spPr>
          <a:xfrm>
            <a:off x="0" y="5705337"/>
            <a:ext cx="10341864" cy="1152663"/>
          </a:xfrm>
          <a:prstGeom prst="rect">
            <a:avLst/>
          </a:prstGeom>
          <a:noFill/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INTRODUCTION...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D15771-6588-E783-2BFB-36E1DD0E7445}"/>
              </a:ext>
            </a:extLst>
          </p:cNvPr>
          <p:cNvSpPr txBox="1">
            <a:spLocks/>
          </p:cNvSpPr>
          <p:nvPr/>
        </p:nvSpPr>
        <p:spPr>
          <a:xfrm>
            <a:off x="0" y="5705336"/>
            <a:ext cx="10341864" cy="1152663"/>
          </a:xfrm>
          <a:prstGeom prst="rect">
            <a:avLst/>
          </a:prstGeom>
          <a:noFill/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INTRODUCTION….</a:t>
            </a:r>
          </a:p>
        </p:txBody>
      </p:sp>
    </p:spTree>
    <p:extLst>
      <p:ext uri="{BB962C8B-B14F-4D97-AF65-F5344CB8AC3E}">
        <p14:creationId xmlns:p14="http://schemas.microsoft.com/office/powerpoint/2010/main" val="1656990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">
        <p159:morph option="byObject"/>
      </p:transition>
    </mc:Choice>
    <mc:Fallback xmlns="">
      <p:transition spd="slow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3" grpId="0"/>
      <p:bldP spid="3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10F83-9237-D97F-2434-B89978FACB27}"/>
              </a:ext>
            </a:extLst>
          </p:cNvPr>
          <p:cNvSpPr/>
          <p:nvPr/>
        </p:nvSpPr>
        <p:spPr>
          <a:xfrm>
            <a:off x="126333" y="-9"/>
            <a:ext cx="2364204" cy="68580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749FE7-FE1A-BC7D-658D-ACC91C7F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7031" y="432502"/>
            <a:ext cx="4840010" cy="18073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E926D6-DBD8-16CD-8B7D-604F4C6D3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Name : </a:t>
            </a:r>
            <a:r>
              <a:rPr lang="en-US" sz="2000" dirty="0" err="1"/>
              <a:t>Izzan</a:t>
            </a:r>
            <a:r>
              <a:rPr lang="en-US" sz="2000" dirty="0"/>
              <a:t> Muhammad </a:t>
            </a:r>
            <a:r>
              <a:rPr lang="en-US" sz="2000" dirty="0" err="1"/>
              <a:t>Fa’iz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Bachelor of Computer Engineering</a:t>
            </a:r>
          </a:p>
          <a:p>
            <a:pPr marL="0" indent="0">
              <a:buNone/>
            </a:pPr>
            <a:r>
              <a:rPr lang="en-US" sz="2000" dirty="0"/>
              <a:t>In Telkom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B2268-099E-BDCE-4449-BD672CD5F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219" l="9953" r="89930">
                        <a14:foregroundMark x1="43091" y1="42500" x2="51522" y2="49375"/>
                        <a14:foregroundMark x1="51522" y1="49375" x2="45902" y2="64219"/>
                        <a14:foregroundMark x1="45902" y1="64219" x2="36651" y2="54141"/>
                        <a14:foregroundMark x1="36651" y1="54141" x2="37588" y2="45000"/>
                        <a14:foregroundMark x1="37588" y1="45000" x2="40984" y2="44688"/>
                        <a14:foregroundMark x1="44496" y1="45625" x2="46838" y2="58203"/>
                        <a14:foregroundMark x1="46838" y1="58203" x2="43911" y2="50703"/>
                        <a14:foregroundMark x1="43911" y1="50703" x2="44965" y2="46094"/>
                        <a14:foregroundMark x1="28923" y1="84297" x2="34660" y2="99922"/>
                        <a14:foregroundMark x1="34660" y1="99922" x2="45433" y2="99766"/>
                        <a14:foregroundMark x1="45433" y1="99766" x2="56089" y2="99922"/>
                        <a14:foregroundMark x1="56089" y1="99922" x2="66862" y2="99219"/>
                        <a14:foregroundMark x1="66862" y1="99219" x2="65925" y2="89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62" y="-9"/>
            <a:ext cx="4575572" cy="6858000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411ABB59-52D7-49E5-19DE-A6A26A98F083}"/>
              </a:ext>
            </a:extLst>
          </p:cNvPr>
          <p:cNvSpPr txBox="1">
            <a:spLocks/>
          </p:cNvSpPr>
          <p:nvPr/>
        </p:nvSpPr>
        <p:spPr>
          <a:xfrm>
            <a:off x="7050515" y="3590597"/>
            <a:ext cx="4840010" cy="2086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Huge interest in : </a:t>
            </a:r>
          </a:p>
          <a:p>
            <a:pPr>
              <a:buFontTx/>
              <a:buChar char="-"/>
            </a:pPr>
            <a:r>
              <a:rPr lang="en-US" sz="2000" dirty="0"/>
              <a:t>Technology</a:t>
            </a:r>
          </a:p>
          <a:p>
            <a:pPr>
              <a:buFontTx/>
              <a:buChar char="-"/>
            </a:pPr>
            <a:r>
              <a:rPr lang="en-US" sz="2000" dirty="0"/>
              <a:t>Data in general </a:t>
            </a:r>
          </a:p>
          <a:p>
            <a:pPr>
              <a:buFontTx/>
              <a:buChar char="-"/>
            </a:pPr>
            <a:r>
              <a:rPr lang="en-US" sz="2000" dirty="0"/>
              <a:t>Internet of Things (IoT)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5643EAD8-2B7A-D0D6-D10A-298ED06F6D79}"/>
              </a:ext>
            </a:extLst>
          </p:cNvPr>
          <p:cNvSpPr txBox="1">
            <a:spLocks/>
          </p:cNvSpPr>
          <p:nvPr/>
        </p:nvSpPr>
        <p:spPr>
          <a:xfrm>
            <a:off x="7050515" y="5911455"/>
            <a:ext cx="3757185" cy="265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pic>
        <p:nvPicPr>
          <p:cNvPr id="15" name="Graphic 14" descr="Email with solid fill">
            <a:extLst>
              <a:ext uri="{FF2B5EF4-FFF2-40B4-BE49-F238E27FC236}">
                <a16:creationId xmlns:a16="http://schemas.microsoft.com/office/drawing/2014/main" id="{B3CDEE18-FE27-BB9E-2564-CBAC040049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6141" y="6087502"/>
            <a:ext cx="254000" cy="254000"/>
          </a:xfrm>
          <a:prstGeom prst="rect">
            <a:avLst/>
          </a:prstGeom>
        </p:spPr>
      </p:pic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6BFC168-ABC3-8CD0-4884-9F9C928DC8F5}"/>
              </a:ext>
            </a:extLst>
          </p:cNvPr>
          <p:cNvSpPr txBox="1">
            <a:spLocks/>
          </p:cNvSpPr>
          <p:nvPr/>
        </p:nvSpPr>
        <p:spPr>
          <a:xfrm>
            <a:off x="6840626" y="6087502"/>
            <a:ext cx="2177042" cy="314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izzanmfaiz@gmail.com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44B65B7-8150-70D9-D369-19EDFD8C3629}"/>
              </a:ext>
            </a:extLst>
          </p:cNvPr>
          <p:cNvSpPr txBox="1">
            <a:spLocks/>
          </p:cNvSpPr>
          <p:nvPr/>
        </p:nvSpPr>
        <p:spPr>
          <a:xfrm>
            <a:off x="9494931" y="6112330"/>
            <a:ext cx="2177042" cy="314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linkedin.com/in/</a:t>
            </a:r>
            <a:r>
              <a:rPr lang="en-US" sz="2000" dirty="0" err="1"/>
              <a:t>izzan</a:t>
            </a:r>
            <a:r>
              <a:rPr lang="en-US" sz="2000" dirty="0"/>
              <a:t>-m-fa-</a:t>
            </a:r>
            <a:r>
              <a:rPr lang="en-US" sz="2000" dirty="0" err="1"/>
              <a:t>iz</a:t>
            </a:r>
            <a:r>
              <a:rPr lang="en-US" sz="2000" dirty="0"/>
              <a:t>/</a:t>
            </a:r>
          </a:p>
        </p:txBody>
      </p:sp>
      <p:pic>
        <p:nvPicPr>
          <p:cNvPr id="1026" name="Picture 2" descr="Linkedin Icon Png Transparent Background Facebook Icon Linkedin Png">
            <a:extLst>
              <a:ext uri="{FF2B5EF4-FFF2-40B4-BE49-F238E27FC236}">
                <a16:creationId xmlns:a16="http://schemas.microsoft.com/office/drawing/2014/main" id="{5D37A57C-FA4F-B35F-FC83-E8AE9B0CC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9285042" y="6080012"/>
            <a:ext cx="314665" cy="31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73434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84 0.00046 L -0.55977 0.00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03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uiExpand="1" build="p"/>
      <p:bldP spid="9" grpId="0" uiExpand="1" build="p"/>
      <p:bldP spid="13" grpId="0" uiExpand="1" build="p"/>
      <p:bldP spid="16" grpId="0" uiExpand="1" build="p"/>
      <p:bldP spid="1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65D3C-C1AB-CF69-AC9A-D3C58DA8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32102-D091-FE0C-F8AD-0EA2CECC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89418" y="1110994"/>
            <a:ext cx="4379717" cy="1188720"/>
          </a:xfrm>
        </p:spPr>
        <p:txBody>
          <a:bodyPr>
            <a:normAutofit/>
          </a:bodyPr>
          <a:lstStyle/>
          <a:p>
            <a:r>
              <a:rPr lang="en-US" dirty="0"/>
              <a:t>OVERVIEW PROJECT</a:t>
            </a:r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766BFF-4E52-54A0-6F58-115B0ACB4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38044"/>
            <a:ext cx="3849624" cy="310198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1" dirty="0"/>
              <a:t>APTRG (Aeromodelling and Payload Telemetry Research Group)</a:t>
            </a:r>
            <a:br>
              <a:rPr lang="en-US" sz="1500" b="1" dirty="0"/>
            </a:br>
            <a:r>
              <a:rPr lang="en-US" sz="1500" b="1" dirty="0"/>
              <a:t>- </a:t>
            </a:r>
            <a:r>
              <a:rPr lang="en-US" sz="1500" dirty="0"/>
              <a:t>Designing Drones for both virtually and physically</a:t>
            </a:r>
          </a:p>
          <a:p>
            <a:pPr>
              <a:lnSpc>
                <a:spcPct val="90000"/>
              </a:lnSpc>
            </a:pPr>
            <a:r>
              <a:rPr lang="en-US" sz="1500" b="1" dirty="0" err="1"/>
              <a:t>ProcodeCG</a:t>
            </a:r>
            <a:br>
              <a:rPr lang="en-US" sz="1500" b="1" dirty="0"/>
            </a:br>
            <a:r>
              <a:rPr lang="en-US" sz="1500" b="1" dirty="0"/>
              <a:t>- </a:t>
            </a:r>
            <a:r>
              <a:rPr lang="en-US" sz="1500" dirty="0"/>
              <a:t>Creating a python codes for </a:t>
            </a:r>
            <a:r>
              <a:rPr lang="en-US" sz="1500" dirty="0" err="1"/>
              <a:t>childrens</a:t>
            </a:r>
            <a:r>
              <a:rPr lang="en-US" sz="1500" dirty="0"/>
              <a:t> who wants to learn coding in early age.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Water Controls for Shrimps Aquaculture</a:t>
            </a:r>
            <a:br>
              <a:rPr lang="en-US" sz="1500" b="1" dirty="0"/>
            </a:br>
            <a:r>
              <a:rPr lang="en-US" sz="1500" b="1" dirty="0"/>
              <a:t>- </a:t>
            </a:r>
            <a:r>
              <a:rPr lang="en-US" sz="1500" dirty="0"/>
              <a:t>Creating a system to control water quality parameter for shrimps.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B68B3-2AA1-45D0-DF42-89D729A6E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r="2" b="8019"/>
          <a:stretch>
            <a:fillRect/>
          </a:stretch>
        </p:blipFill>
        <p:spPr>
          <a:xfrm>
            <a:off x="5453178" y="-2"/>
            <a:ext cx="6739097" cy="3410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B1B6CE-7A86-8B77-E131-571FAE453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0027"/>
          <a:stretch>
            <a:fillRect/>
          </a:stretch>
        </p:blipFill>
        <p:spPr>
          <a:xfrm>
            <a:off x="5452903" y="3447288"/>
            <a:ext cx="6739097" cy="34107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D06713A-DE7B-0AFE-CAE3-A9212D28A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903" y="1"/>
            <a:ext cx="6739096" cy="34107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FB8C422-CC92-53C5-79D7-1FE02C116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903" y="3429000"/>
            <a:ext cx="6739096" cy="34107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FC0289-B081-16F7-397C-C82B161063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843" y="-2"/>
            <a:ext cx="3324157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8D64FA-1B34-1BC6-BE8B-3177796B7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596" y="0"/>
            <a:ext cx="3287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07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0.55273 0.0009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4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1DDA-74C2-BFCF-8747-62801FFB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dirty="0"/>
              <a:t>MAIN PROJECT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04060398"/>
      </p:ext>
    </p:extLst>
  </p:cSld>
  <p:clrMapOvr>
    <a:masterClrMapping/>
  </p:clrMapOvr>
  <p:transition spd="slow" advClick="0" advTm="2000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4259F-7818-3626-7273-39F08673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9CD60-9352-3C12-EFB7-B252921A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23" y="2962486"/>
            <a:ext cx="6244706" cy="933027"/>
          </a:xfrm>
        </p:spPr>
        <p:txBody>
          <a:bodyPr anchor="ctr">
            <a:normAutofit/>
          </a:bodyPr>
          <a:lstStyle/>
          <a:p>
            <a:r>
              <a:rPr lang="en-US" dirty="0"/>
              <a:t>Main Project </a:t>
            </a:r>
            <a:br>
              <a:rPr lang="en-US" b="1" dirty="0"/>
            </a:br>
            <a:r>
              <a:rPr lang="en-US" b="1" dirty="0"/>
              <a:t>“Employee’s hiring distribution and rating insights.”</a:t>
            </a:r>
          </a:p>
          <a:p>
            <a:endParaRPr lang="en-ID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004C6C-7E85-86EC-B4BD-C65FBCCEB4A7}"/>
              </a:ext>
            </a:extLst>
          </p:cNvPr>
          <p:cNvSpPr txBox="1">
            <a:spLocks/>
          </p:cNvSpPr>
          <p:nvPr/>
        </p:nvSpPr>
        <p:spPr>
          <a:xfrm>
            <a:off x="5518323" y="3285067"/>
            <a:ext cx="6244706" cy="1866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  <a:endParaRPr lang="en-ID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5D67CA-BEF6-0AB7-9632-B686007242E7}"/>
              </a:ext>
            </a:extLst>
          </p:cNvPr>
          <p:cNvSpPr txBox="1">
            <a:spLocks/>
          </p:cNvSpPr>
          <p:nvPr/>
        </p:nvSpPr>
        <p:spPr>
          <a:xfrm>
            <a:off x="5732809" y="2818553"/>
            <a:ext cx="6244706" cy="933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This data analysis is used to predict when a company should conduct hiring, training, or firing based on employee ratings or age.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692907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0 -0.13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C3F3-3641-CB13-2541-EC89BDD1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636" y="901192"/>
            <a:ext cx="5693664" cy="1188720"/>
          </a:xfrm>
        </p:spPr>
        <p:txBody>
          <a:bodyPr/>
          <a:lstStyle/>
          <a:p>
            <a:r>
              <a:rPr lang="en-US" dirty="0"/>
              <a:t>When to hire?</a:t>
            </a:r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6AEE78-DA48-515E-D3B0-F070CEF081C0}"/>
              </a:ext>
            </a:extLst>
          </p:cNvPr>
          <p:cNvSpPr txBox="1">
            <a:spLocks/>
          </p:cNvSpPr>
          <p:nvPr/>
        </p:nvSpPr>
        <p:spPr bwMode="black">
          <a:xfrm>
            <a:off x="5469636" y="2834640"/>
            <a:ext cx="5693664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WHEN NEED TO TRAIN?</a:t>
            </a:r>
            <a:endParaRPr lang="en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042279-F990-07B1-18CB-C43E29664924}"/>
              </a:ext>
            </a:extLst>
          </p:cNvPr>
          <p:cNvSpPr txBox="1">
            <a:spLocks/>
          </p:cNvSpPr>
          <p:nvPr/>
        </p:nvSpPr>
        <p:spPr bwMode="black">
          <a:xfrm>
            <a:off x="897636" y="4755388"/>
            <a:ext cx="5693664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WHEN NEED TO FIRING?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7494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7A906-E80F-F8A4-E764-9C7B93B9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42" r="9483"/>
          <a:stretch>
            <a:fillRect/>
          </a:stretch>
        </p:blipFill>
        <p:spPr>
          <a:xfrm>
            <a:off x="4650909" y="10"/>
            <a:ext cx="7541090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3DABB-3149-63A7-7834-59EB942F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 description</a:t>
            </a:r>
            <a:endParaRPr lang="en-ID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50A5-1A57-AA1C-2DAE-3C01A96CA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>
                <a:solidFill>
                  <a:schemeClr val="bg1"/>
                </a:solidFill>
              </a:rPr>
              <a:t>Dataset: </a:t>
            </a:r>
            <a:r>
              <a:rPr lang="en-ID" sz="1500" b="1">
                <a:solidFill>
                  <a:schemeClr val="bg1"/>
                </a:solidFill>
                <a:hlinkClick r:id="rId4"/>
              </a:rPr>
              <a:t>employee_data.csv</a:t>
            </a:r>
            <a:r>
              <a:rPr lang="en-ID" sz="1500" b="1">
                <a:solidFill>
                  <a:schemeClr val="bg1"/>
                </a:solidFill>
              </a:rPr>
              <a:t> </a:t>
            </a:r>
            <a:r>
              <a:rPr lang="en-US" sz="1500">
                <a:solidFill>
                  <a:schemeClr val="bg1"/>
                </a:solidFill>
              </a:rPr>
              <a:t>(Kaggle)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Total Employees : 3000 (rows)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Total Section :  26 Sections (column)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Section details : EmpID, FirstName, LastName, DoB, Start/ExitDate, Etc.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500">
                <a:solidFill>
                  <a:schemeClr val="bg1"/>
                </a:solidFill>
              </a:rPr>
              <a:t>Data Problems :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Missing files in ExitDate section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Unecessary sections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Confusing sections</a:t>
            </a:r>
          </a:p>
        </p:txBody>
      </p:sp>
    </p:spTree>
    <p:extLst>
      <p:ext uri="{BB962C8B-B14F-4D97-AF65-F5344CB8AC3E}">
        <p14:creationId xmlns:p14="http://schemas.microsoft.com/office/powerpoint/2010/main" val="45652915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FFAF-DC1A-F610-6581-FF7FDDFA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dirty="0"/>
              <a:t>Data preparation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53217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B36C-16F9-A2E5-A3E9-FEB0C6B7D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495" y="1402080"/>
            <a:ext cx="5320696" cy="405384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 Cleaning</a:t>
            </a:r>
          </a:p>
          <a:p>
            <a:pPr marL="0" indent="0" algn="just">
              <a:buNone/>
            </a:pPr>
            <a:r>
              <a:rPr lang="en-US" dirty="0"/>
              <a:t>Data cleaning is the process of preparing data to ensure it is accurate, consistent, and free from errors.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For this case:</a:t>
            </a:r>
          </a:p>
          <a:p>
            <a:pPr algn="just"/>
            <a:r>
              <a:rPr lang="en-US" dirty="0" err="1"/>
              <a:t>ExitDate</a:t>
            </a:r>
            <a:r>
              <a:rPr lang="en-US" dirty="0"/>
              <a:t>(Missing Values) – Filled with “-”</a:t>
            </a:r>
          </a:p>
          <a:p>
            <a:pPr algn="just"/>
            <a:r>
              <a:rPr lang="en-US" dirty="0"/>
              <a:t>Remove Unnecessary Section – Removing </a:t>
            </a:r>
            <a:r>
              <a:rPr lang="en-US" dirty="0" err="1"/>
              <a:t>TerminationDescription</a:t>
            </a:r>
            <a:r>
              <a:rPr lang="en-US" dirty="0"/>
              <a:t>, </a:t>
            </a:r>
            <a:r>
              <a:rPr lang="en-US" dirty="0" err="1"/>
              <a:t>EmployeeClassificationType</a:t>
            </a:r>
            <a:r>
              <a:rPr lang="en-US" dirty="0"/>
              <a:t>, Supervisor, etc.</a:t>
            </a:r>
          </a:p>
          <a:p>
            <a:pPr algn="just"/>
            <a:r>
              <a:rPr lang="en-US" dirty="0"/>
              <a:t>Change cell format to date – </a:t>
            </a:r>
            <a:r>
              <a:rPr lang="en-US" dirty="0" err="1"/>
              <a:t>DoB</a:t>
            </a:r>
            <a:r>
              <a:rPr lang="en-US" dirty="0"/>
              <a:t> section</a:t>
            </a:r>
          </a:p>
          <a:p>
            <a:pPr algn="just"/>
            <a:r>
              <a:rPr lang="en-US" dirty="0"/>
              <a:t>Choosing the important sections only for the analysis</a:t>
            </a:r>
          </a:p>
        </p:txBody>
      </p:sp>
    </p:spTree>
    <p:extLst>
      <p:ext uri="{BB962C8B-B14F-4D97-AF65-F5344CB8AC3E}">
        <p14:creationId xmlns:p14="http://schemas.microsoft.com/office/powerpoint/2010/main" val="23194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853C5-7E5D-77E6-B5AA-058C047F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51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visualization</a:t>
            </a:r>
            <a:endParaRPr lang="en-US" sz="5100" kern="1200" cap="all" spc="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04328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ED3CFB-EA09-B576-11AC-CBCB795A8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49" b="1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0815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A5AFF-3930-C4DF-7526-9272C77C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7939DC-127C-CE29-56D8-294466A684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3649" b="1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BA27FB-52A0-5B06-B2D7-F4BC3B7D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53" y="964692"/>
            <a:ext cx="5458047" cy="67272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Insight #1, when to hire?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A8C8385-24C4-ED4E-F973-A3A6EEE0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04" y="2484040"/>
            <a:ext cx="5360511" cy="3101983"/>
          </a:xfrm>
        </p:spPr>
        <p:txBody>
          <a:bodyPr/>
          <a:lstStyle/>
          <a:p>
            <a:r>
              <a:rPr lang="en-US" dirty="0"/>
              <a:t>When there’s an aging force (Almost retired)</a:t>
            </a:r>
          </a:p>
          <a:p>
            <a:r>
              <a:rPr lang="en-US" dirty="0"/>
              <a:t>Under-Capacity</a:t>
            </a:r>
            <a:endParaRPr lang="en-ID" dirty="0"/>
          </a:p>
          <a:p>
            <a:pPr marL="0" indent="0">
              <a:buNone/>
            </a:pPr>
            <a:r>
              <a:rPr lang="en-ID" b="1" dirty="0"/>
              <a:t>For Example :</a:t>
            </a:r>
          </a:p>
          <a:p>
            <a:r>
              <a:rPr lang="en-US" b="1" dirty="0"/>
              <a:t>Admin offices department total employees</a:t>
            </a:r>
            <a:br>
              <a:rPr lang="en-US" b="1" dirty="0"/>
            </a:br>
            <a:r>
              <a:rPr lang="en-US" b="1" dirty="0"/>
              <a:t>25 employees in total of 967 employees(~2.5%)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(under the normal benchmark of 3-8%)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23D602-4744-D55C-0358-9FBCDC66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191" y="1199377"/>
            <a:ext cx="5466202" cy="438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81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71CF5-8E66-9149-FBCE-0BCE80052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E85EAD-6DB5-1BA6-AB4A-C5180DDF82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3649" b="1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7718BB-D19C-68E0-054F-12E174202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53" y="964692"/>
            <a:ext cx="5458047" cy="67272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Insight #2, when to train?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2B81262-47D2-9D76-09AA-D11D4C4FA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04" y="2484040"/>
            <a:ext cx="5360511" cy="3101983"/>
          </a:xfrm>
        </p:spPr>
        <p:txBody>
          <a:bodyPr/>
          <a:lstStyle/>
          <a:p>
            <a:r>
              <a:rPr lang="en-US" dirty="0"/>
              <a:t>When there are many low employee ratings</a:t>
            </a:r>
          </a:p>
          <a:p>
            <a:r>
              <a:rPr lang="en-ID" dirty="0"/>
              <a:t>Gap-Perform between other department</a:t>
            </a:r>
          </a:p>
          <a:p>
            <a:pPr marL="0" indent="0">
              <a:buNone/>
            </a:pPr>
            <a:r>
              <a:rPr lang="en-ID" b="1" dirty="0"/>
              <a:t>For Example :</a:t>
            </a:r>
          </a:p>
          <a:p>
            <a:r>
              <a:rPr lang="en-US" b="1" dirty="0"/>
              <a:t>Production department has a total of 361 employees that are need in training </a:t>
            </a:r>
            <a:br>
              <a:rPr lang="en-US" b="1" dirty="0"/>
            </a:br>
            <a:r>
              <a:rPr lang="en-US" b="1" dirty="0"/>
              <a:t>(68%, highest than the other department)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9541B-1F4C-5D17-8E85-45995A73A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277" y="1056731"/>
            <a:ext cx="3775223" cy="47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39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CE7BB-EE76-33B0-D931-769EC7B8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474702-2DA8-5632-CBEB-A8846C7E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3649" b="1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B6AB19-3F24-5E9C-B337-781657C9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53" y="964692"/>
            <a:ext cx="6639147" cy="67272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Insight #3, when need to firing?</a:t>
            </a:r>
            <a:endParaRPr lang="en-ID" sz="2400" dirty="0">
              <a:solidFill>
                <a:schemeClr val="tx1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86BB246-3F50-AE25-23D7-1878A4D0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04" y="2484040"/>
            <a:ext cx="5360511" cy="3101983"/>
          </a:xfrm>
        </p:spPr>
        <p:txBody>
          <a:bodyPr/>
          <a:lstStyle/>
          <a:p>
            <a:r>
              <a:rPr lang="en-US" dirty="0"/>
              <a:t>When there’ s an overstaffing</a:t>
            </a:r>
          </a:p>
          <a:p>
            <a:r>
              <a:rPr lang="en-US" dirty="0"/>
              <a:t>Low ratings (individual firing)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D" b="1" dirty="0"/>
              <a:t>For Example :</a:t>
            </a:r>
          </a:p>
          <a:p>
            <a:r>
              <a:rPr lang="en-US" b="1" dirty="0"/>
              <a:t>IT/IS has 137 employees in total of 967 for all department </a:t>
            </a:r>
            <a:br>
              <a:rPr lang="en-US" b="1" dirty="0"/>
            </a:br>
            <a:r>
              <a:rPr lang="en-US" sz="1600" b="1" dirty="0"/>
              <a:t>(14%, higher than the normal benchmark of 2-8%)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205FE-40AF-36A5-7E78-EC5BE62F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63" y="2158814"/>
            <a:ext cx="5694888" cy="35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66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DED847-34F1-4353-AA83-1525E9E40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476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9BE43-1B95-9A41-4F7D-8473007A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599" y="4928136"/>
            <a:ext cx="7729728" cy="1134402"/>
          </a:xfrm>
          <a:prstGeom prst="ellipse">
            <a:avLst/>
          </a:prstGeo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BENCHMARK</a:t>
            </a: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9CDA9D7A-4D18-5BF7-A4E9-44484E4CB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69" y="381001"/>
            <a:ext cx="11540462" cy="385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9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8FA7A-7BA6-C157-4838-0BCB127E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26559B-4D94-B888-B8BD-B468A4526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3B2336-8CBA-A34C-6797-DD02E0C20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ED0726-29B0-B696-9163-D65105CE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21660-22BF-6273-1AFF-11CF8FD6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300">
                <a:solidFill>
                  <a:srgbClr val="FFFFFF"/>
                </a:solidFill>
              </a:rPr>
              <a:t>Conclusion</a:t>
            </a:r>
            <a:endParaRPr lang="en-ID" sz="23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09A0-82DE-DE67-337A-BE8FD2F83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A data-driven approach in employee management can help companies increase productivity, optimize resources, and support more effective and sustainable decision-making.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105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986876-AE4A-43C5-899A-A2E90B63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wrap="square">
            <a:normAutofit/>
          </a:bodyPr>
          <a:lstStyle/>
          <a:p>
            <a:r>
              <a:rPr lang="en-US" sz="4800"/>
              <a:t>Thank you!</a:t>
            </a:r>
            <a:endParaRPr lang="en-ID" sz="4800"/>
          </a:p>
        </p:txBody>
      </p:sp>
    </p:spTree>
    <p:extLst>
      <p:ext uri="{BB962C8B-B14F-4D97-AF65-F5344CB8AC3E}">
        <p14:creationId xmlns:p14="http://schemas.microsoft.com/office/powerpoint/2010/main" val="324405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" ma:contentTypeID="0x01010020584ADE69B84E4A95D2EF52AC6D6552" ma:contentTypeVersion="11" ma:contentTypeDescription="Buat sebuah dokumen baru." ma:contentTypeScope="" ma:versionID="e367a8778ebd2392623ed089887daf3e">
  <xsd:schema xmlns:xsd="http://www.w3.org/2001/XMLSchema" xmlns:xs="http://www.w3.org/2001/XMLSchema" xmlns:p="http://schemas.microsoft.com/office/2006/metadata/properties" xmlns:ns3="ab2b4617-20ee-4059-8c87-0fe01e37f1fb" xmlns:ns4="338f1292-0165-48a4-8d84-9da89a12256c" targetNamespace="http://schemas.microsoft.com/office/2006/metadata/properties" ma:root="true" ma:fieldsID="ead606f01edc30536c680a01a6d27950" ns3:_="" ns4:_="">
    <xsd:import namespace="ab2b4617-20ee-4059-8c87-0fe01e37f1fb"/>
    <xsd:import namespace="338f1292-0165-48a4-8d84-9da89a1225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2b4617-20ee-4059-8c87-0fe01e37f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f1292-0165-48a4-8d84-9da89a1225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ibagikan Denga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ibagikan Dengan Detai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Berbagi Hash Petunjuk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e Isi"/>
        <xsd:element ref="dc:title" minOccurs="0" maxOccurs="1" ma:index="4" ma:displayName="Judu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2b4617-20ee-4059-8c87-0fe01e37f1fb" xsi:nil="true"/>
  </documentManagement>
</p:properties>
</file>

<file path=customXml/itemProps1.xml><?xml version="1.0" encoding="utf-8"?>
<ds:datastoreItem xmlns:ds="http://schemas.openxmlformats.org/officeDocument/2006/customXml" ds:itemID="{F34C7F34-50D8-4607-96E2-1BBC207B9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2b4617-20ee-4059-8c87-0fe01e37f1fb"/>
    <ds:schemaRef ds:uri="338f1292-0165-48a4-8d84-9da89a1225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E59C88-4219-48B2-894C-EE37261C5C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3268F9-0EDA-43E6-874A-57F970D8FEBD}">
  <ds:schemaRefs>
    <ds:schemaRef ds:uri="http://schemas.microsoft.com/office/2006/metadata/properties"/>
    <ds:schemaRef ds:uri="ab2b4617-20ee-4059-8c87-0fe01e37f1fb"/>
    <ds:schemaRef ds:uri="http://purl.org/dc/elements/1.1/"/>
    <ds:schemaRef ds:uri="http://purl.org/dc/terms/"/>
    <ds:schemaRef ds:uri="338f1292-0165-48a4-8d84-9da89a12256c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0affe0f-c2a3-4108-bb98-6ceb4e94ef15}" enabled="0" method="" siteId="{90affe0f-c2a3-4108-bb98-6ceb4e94ef1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462</Words>
  <Application>Microsoft Office PowerPoint</Application>
  <PresentationFormat>Widescreen</PresentationFormat>
  <Paragraphs>71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Agency FB</vt:lpstr>
      <vt:lpstr>Aptos</vt:lpstr>
      <vt:lpstr>Arial</vt:lpstr>
      <vt:lpstr>Century Gothic</vt:lpstr>
      <vt:lpstr>Elephant</vt:lpstr>
      <vt:lpstr>Gill Sans MT</vt:lpstr>
      <vt:lpstr>BrushVTI</vt:lpstr>
      <vt:lpstr>Parcel</vt:lpstr>
      <vt:lpstr>Employee’s hiring distribution and rating insights</vt:lpstr>
      <vt:lpstr>PowerPoint Presentation</vt:lpstr>
      <vt:lpstr>Introduction</vt:lpstr>
      <vt:lpstr>OVERVIEW PROJECT</vt:lpstr>
      <vt:lpstr>MAIN PROJECT</vt:lpstr>
      <vt:lpstr>PowerPoint Presentation</vt:lpstr>
      <vt:lpstr>When to hire?</vt:lpstr>
      <vt:lpstr>Data description</vt:lpstr>
      <vt:lpstr>Data preparation</vt:lpstr>
      <vt:lpstr>PowerPoint Presentation</vt:lpstr>
      <vt:lpstr>Dashboard visualization</vt:lpstr>
      <vt:lpstr>PowerPoint Presentation</vt:lpstr>
      <vt:lpstr>Insight #1, when to hire?</vt:lpstr>
      <vt:lpstr>Insight #2, when to train?</vt:lpstr>
      <vt:lpstr>Insight #3, when need to firing?</vt:lpstr>
      <vt:lpstr>BENCHMARK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IZZAN MUHAMMAD FA'IZ</dc:creator>
  <cp:lastModifiedBy>IZZAN MUHAMMAD FA'IZ</cp:lastModifiedBy>
  <cp:revision>3</cp:revision>
  <dcterms:created xsi:type="dcterms:W3CDTF">2026-04-21T04:10:02Z</dcterms:created>
  <dcterms:modified xsi:type="dcterms:W3CDTF">2026-04-22T16:16:20Z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0x01010020584ADE69B84E4A95D2EF52AC6D6552</vt:lpwstr>
  </property>
</Properties>
</file>