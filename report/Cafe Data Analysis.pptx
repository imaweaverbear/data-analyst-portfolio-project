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</c:v>
                </c:pt>
              </c:strCache>
            </c:strRef>
          </c:tx>
          <c:spPr>
            <a:solidFill>
              <a:srgbClr val="C4453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Item</c:v>
                </c:pt>
                <c:pt idx="1">
                  <c:v>Quantity</c:v>
                </c:pt>
                <c:pt idx="2">
                  <c:v>Price/Unit</c:v>
                </c:pt>
                <c:pt idx="3">
                  <c:v>Total Spent</c:v>
                </c:pt>
                <c:pt idx="4">
                  <c:v>Payment</c:v>
                </c:pt>
                <c:pt idx="5">
                  <c:v>Location</c:v>
                </c:pt>
                <c:pt idx="6">
                  <c:v>Date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969</c:v>
                </c:pt>
                <c:pt idx="1">
                  <c:v>479</c:v>
                </c:pt>
                <c:pt idx="2">
                  <c:v>533</c:v>
                </c:pt>
                <c:pt idx="3">
                  <c:v>502</c:v>
                </c:pt>
                <c:pt idx="4">
                  <c:v>3178</c:v>
                </c:pt>
                <c:pt idx="5">
                  <c:v>3961</c:v>
                </c:pt>
                <c:pt idx="6">
                  <c:v>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CF-46B8-AA5B-B9BD928BE1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6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Outlier</c:v>
                </c:pt>
              </c:strCache>
            </c:strRef>
          </c:tx>
          <c:spPr>
            <a:solidFill>
              <a:srgbClr val="D8852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Quantity</c:v>
                </c:pt>
                <c:pt idx="1">
                  <c:v>Price Per Unit</c:v>
                </c:pt>
                <c:pt idx="2">
                  <c:v>Total Spent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2">
                  <c:v>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B-4140-A125-AAFF5923D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6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Item</c:v>
                </c:pt>
              </c:strCache>
            </c:strRef>
          </c:tx>
          <c:spPr>
            <a:solidFill>
              <a:srgbClr val="4C956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Salad</c:v>
                </c:pt>
                <c:pt idx="1">
                  <c:v>Sandwich</c:v>
                </c:pt>
                <c:pt idx="2">
                  <c:v>Smoothie</c:v>
                </c:pt>
                <c:pt idx="3">
                  <c:v>Juice</c:v>
                </c:pt>
                <c:pt idx="4">
                  <c:v>Cake</c:v>
                </c:pt>
                <c:pt idx="5">
                  <c:v>Coffee</c:v>
                </c:pt>
                <c:pt idx="6">
                  <c:v>Tea</c:v>
                </c:pt>
                <c:pt idx="7">
                  <c:v>Cookie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18220</c:v>
                </c:pt>
                <c:pt idx="1">
                  <c:v>14448</c:v>
                </c:pt>
                <c:pt idx="2">
                  <c:v>14072</c:v>
                </c:pt>
                <c:pt idx="3">
                  <c:v>11067</c:v>
                </c:pt>
                <c:pt idx="4">
                  <c:v>10941</c:v>
                </c:pt>
                <c:pt idx="5">
                  <c:v>7532</c:v>
                </c:pt>
                <c:pt idx="6">
                  <c:v>5161.5</c:v>
                </c:pt>
                <c:pt idx="7">
                  <c:v>3427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2-464F-B60D-1AD44C6BFB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6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F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81-41BE-9F96-7F8B013A1EF5}"/>
              </c:ext>
            </c:extLst>
          </c:dPt>
          <c:dPt>
            <c:idx val="1"/>
            <c:bubble3D val="0"/>
            <c:spPr>
              <a:solidFill>
                <a:srgbClr val="D885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81-41BE-9F96-7F8B013A1EF5}"/>
              </c:ext>
            </c:extLst>
          </c:dPt>
          <c:dPt>
            <c:idx val="2"/>
            <c:bubble3D val="0"/>
            <c:spPr>
              <a:solidFill>
                <a:srgbClr val="4C95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81-41BE-9F96-7F8B013A1E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81-41BE-9F96-7F8B013A1E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81-41BE-9F96-7F8B013A1EF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81-41BE-9F96-7F8B013A1E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Kartu Kredit</c:v>
                </c:pt>
                <c:pt idx="1">
                  <c:v>Tunai</c:v>
                </c:pt>
                <c:pt idx="2">
                  <c:v>Dompet Digital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28573.5</c:v>
                </c:pt>
                <c:pt idx="1">
                  <c:v>28296.5</c:v>
                </c:pt>
                <c:pt idx="2">
                  <c:v>27998.5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81-41BE-9F96-7F8B013A1E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4F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A39-4F09-9543-12AE5CE49F72}"/>
              </c:ext>
            </c:extLst>
          </c:dPt>
          <c:dPt>
            <c:idx val="1"/>
            <c:bubble3D val="0"/>
            <c:spPr>
              <a:solidFill>
                <a:srgbClr val="D885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39-4F09-9543-12AE5CE49F7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39-4F09-9543-12AE5CE49F7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39-4F09-9543-12AE5CE49F7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Makan di Tempat</c:v>
                </c:pt>
                <c:pt idx="1">
                  <c:v>Bawa Pulang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42936</c:v>
                </c:pt>
                <c:pt idx="1">
                  <c:v>41932.5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39-4F09-9543-12AE5CE49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2F6F9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6F9F"/>
              </a:solidFill>
              <a:ln w="9525" cap="flat">
                <a:solidFill>
                  <a:srgbClr val="2F6F9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  <c:pt idx="6">
                  <c:v>Jul</c:v>
                </c:pt>
                <c:pt idx="7">
                  <c:v>Agu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7254</c:v>
                </c:pt>
                <c:pt idx="1">
                  <c:v>6644</c:v>
                </c:pt>
                <c:pt idx="2">
                  <c:v>7216</c:v>
                </c:pt>
                <c:pt idx="3">
                  <c:v>7179</c:v>
                </c:pt>
                <c:pt idx="4">
                  <c:v>6932.5</c:v>
                </c:pt>
                <c:pt idx="5">
                  <c:v>7353</c:v>
                </c:pt>
                <c:pt idx="6">
                  <c:v>6877.5</c:v>
                </c:pt>
                <c:pt idx="7">
                  <c:v>7092.5</c:v>
                </c:pt>
                <c:pt idx="8">
                  <c:v>6871</c:v>
                </c:pt>
                <c:pt idx="9">
                  <c:v>7314</c:v>
                </c:pt>
                <c:pt idx="10">
                  <c:v>6967</c:v>
                </c:pt>
                <c:pt idx="11">
                  <c:v>7168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5A-41E1-82CE-D5F6DCFB6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23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5F5B7-762C-64C4-7FFA-DB4C8E17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965A5-364C-83C5-7B3C-0E954C997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4F30E-5097-4803-4891-FF7E3056A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A6B70-7B06-9C24-D43B-CE8552978D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05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5211-DA45-6875-8BF5-8FA3D98E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1D4C0-10FC-E0C1-59F2-8F501AD91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3FFA3-0C72-2529-99EB-69638B454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ABD22-2858-0AC2-4822-5B6A9FFBE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95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676656" y="987552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ID" sz="4800" b="1" dirty="0"/>
              <a:t>Cafe Sales Data Analysis</a:t>
            </a:r>
            <a:endParaRPr lang="en-ID" sz="4800" dirty="0"/>
          </a:p>
        </p:txBody>
      </p:sp>
      <p:sp>
        <p:nvSpPr>
          <p:cNvPr id="4" name="Text 2"/>
          <p:cNvSpPr/>
          <p:nvPr/>
        </p:nvSpPr>
        <p:spPr>
          <a:xfrm>
            <a:off x="713232" y="267004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594F"/>
                </a:solidFill>
              </a:rPr>
              <a:t>Laporan proses </a:t>
            </a:r>
            <a:r>
              <a:rPr lang="en-US" sz="1600" dirty="0" err="1">
                <a:solidFill>
                  <a:srgbClr val="64594F"/>
                </a:solidFill>
              </a:rPr>
              <a:t>analisis</a:t>
            </a:r>
            <a:r>
              <a:rPr lang="en-US" sz="1600" dirty="0">
                <a:solidFill>
                  <a:srgbClr val="64594F"/>
                </a:solidFill>
              </a:rPr>
              <a:t> data oleh </a:t>
            </a:r>
            <a:r>
              <a:rPr lang="en-US" sz="1600" b="1" dirty="0" err="1">
                <a:solidFill>
                  <a:srgbClr val="64594F"/>
                </a:solidFill>
              </a:rPr>
              <a:t>Izzan</a:t>
            </a:r>
            <a:r>
              <a:rPr lang="en-US" sz="1600" b="1" dirty="0">
                <a:solidFill>
                  <a:srgbClr val="64594F"/>
                </a:solidFill>
              </a:rPr>
              <a:t> Muhammad </a:t>
            </a:r>
            <a:r>
              <a:rPr lang="en-US" sz="1600" b="1" dirty="0" err="1">
                <a:solidFill>
                  <a:srgbClr val="64594F"/>
                </a:solidFill>
              </a:rPr>
              <a:t>Fa’iz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310128"/>
            <a:ext cx="1828800" cy="64008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31520" y="58704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594F"/>
                </a:solidFill>
              </a:rPr>
              <a:t>Tema presentasi: Strategi peningkatan revenue berdasarkan produk, lokasi, metode pembayaran, dan tren waktu.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01</a:t>
            </a:r>
            <a:endParaRPr lang="en-US" sz="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751953-BB92-C443-BAEE-9B8D4EF4C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Urutan Proses Analisis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64594F"/>
                </a:solidFill>
              </a:rPr>
              <a:t>Struktur</a:t>
            </a:r>
            <a:r>
              <a:rPr lang="en-US" sz="1250" dirty="0">
                <a:solidFill>
                  <a:srgbClr val="64594F"/>
                </a:solidFill>
              </a:rPr>
              <a:t> proses </a:t>
            </a:r>
            <a:r>
              <a:rPr lang="en-US" sz="1250" dirty="0" err="1">
                <a:solidFill>
                  <a:srgbClr val="64594F"/>
                </a:solidFill>
              </a:rPr>
              <a:t>pengolahan</a:t>
            </a:r>
            <a:r>
              <a:rPr lang="en-US" sz="1250" dirty="0">
                <a:solidFill>
                  <a:srgbClr val="64594F"/>
                </a:solidFill>
              </a:rPr>
              <a:t>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0241280" cy="0"/>
          </a:xfrm>
          <a:prstGeom prst="line">
            <a:avLst/>
          </a:prstGeom>
          <a:noFill/>
          <a:ln w="38100">
            <a:solidFill>
              <a:srgbClr val="F1E3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713232" y="2487168"/>
            <a:ext cx="658368" cy="658368"/>
          </a:xfrm>
          <a:prstGeom prst="ellipse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923544" y="26334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3"/>
                </a:solidFill>
              </a:rPr>
              <a:t>Import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51760" y="2487168"/>
            <a:ext cx="658368" cy="658368"/>
          </a:xfrm>
          <a:prstGeom prst="ellipse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2862072" y="26334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95728" y="3346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3"/>
                </a:solidFill>
              </a:rPr>
              <a:t>Data Exploration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90288" y="2487168"/>
            <a:ext cx="658368" cy="658368"/>
          </a:xfrm>
          <a:prstGeom prst="ellipse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800600" y="26334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34256" y="3346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3"/>
                </a:solidFill>
              </a:rPr>
              <a:t>Data Cleaning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28816" y="2487168"/>
            <a:ext cx="658368" cy="658368"/>
          </a:xfrm>
          <a:prstGeom prst="ellipse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739128" y="26334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3346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3"/>
                </a:solidFill>
              </a:rPr>
              <a:t>Data Manipulation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67344" y="2487168"/>
            <a:ext cx="658368" cy="658368"/>
          </a:xfrm>
          <a:prstGeom prst="ellipse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8677656" y="26334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11312" y="3346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3"/>
                </a:solidFill>
              </a:rPr>
              <a:t>Output Final Dataset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405872" y="2487168"/>
            <a:ext cx="658368" cy="658368"/>
          </a:xfrm>
          <a:prstGeom prst="ellipse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10616184" y="26334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49840" y="3346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3"/>
                </a:solidFill>
              </a:rPr>
              <a:t>Pendapat &amp; Rekomendasi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" y="48188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8852A"/>
                </a:solidFill>
              </a:rPr>
              <a:t>•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399032" y="48006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1B13"/>
                </a:solidFill>
              </a:rPr>
              <a:t>Setiap tahap memiliki tujuan, kode, hasil, dan interpretasi singkat.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143000" y="52029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8852A"/>
                </a:solidFill>
              </a:rPr>
              <a:t>•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399032" y="51846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1B13"/>
                </a:solidFill>
              </a:rPr>
              <a:t>Slide difokuskan pada cerita data: dari dataset mentah menjadi insight bisnis.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143000" y="55869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8852A"/>
                </a:solidFill>
              </a:rPr>
              <a:t>•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399032" y="556869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1B13"/>
                </a:solidFill>
              </a:rPr>
              <a:t>Output akhir dapat digunakan untuk presentasi maupun pelengkap notebook Jupyter.</a:t>
            </a:r>
            <a:endParaRPr lang="en-US" sz="15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3F9C1EF-7B3E-100B-DFF0-E82DDD231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Import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Dataset dibaca dari file CSV menggunakan pandas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KODE UTAMA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480560" cy="658368"/>
          </a:xfrm>
          <a:prstGeom prst="rect">
            <a:avLst/>
          </a:prstGeom>
          <a:solidFill>
            <a:srgbClr val="FAF0E4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pd.read_csv('Caffe Sales.csv')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9320" y="1536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A4F2A"/>
                </a:solidFill>
              </a:rPr>
              <a:t>10.000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98932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baris awal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635240" y="1536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A4F2A"/>
                </a:solidFill>
              </a:rPr>
              <a:t>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63524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kolom awal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281160" y="1536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F6F9F"/>
                </a:solidFill>
              </a:rPr>
              <a:t>CSV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8116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format sumber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77240" y="2944368"/>
            <a:ext cx="10744200" cy="0"/>
          </a:xfrm>
          <a:prstGeom prst="line">
            <a:avLst/>
          </a:prstGeom>
          <a:noFill/>
          <a:ln w="12700">
            <a:solidFill>
              <a:srgbClr val="E9E2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868680" y="34472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4712" y="3429000"/>
            <a:ext cx="10883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Data berisi transaksi cafe sepanjang tahun 2023.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858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4712" y="3840480"/>
            <a:ext cx="10883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Kolom utama: Transaction ID, Item, Quantity, Price Per Unit, Total Spent, Payment Method, Location, dan Transaction Date.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2702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4251960"/>
            <a:ext cx="10883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Tahap ini memastikan file berhasil dibaca sebelum proses eksplorasi dilakukan.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C6CD133-0135-4043-F666-BBCA33FE8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 Exploration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Memahami struktur, distribusi, tipe data, dan missing value awal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04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31520" y="1417320"/>
          <a:ext cx="60350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HASIL EKSPLORASI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0" y="1755648"/>
            <a:ext cx="164592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8852A"/>
                </a:solidFill>
              </a:rPr>
              <a:t>•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71232" y="1737360"/>
            <a:ext cx="4087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41B13"/>
                </a:solidFill>
              </a:rPr>
              <a:t>Sebagian kolom numerik masih terbaca sebagai object karena ada nilai UNKNOWN dan ERROR.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0" y="2272856"/>
            <a:ext cx="164592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8852A"/>
                </a:solidFill>
              </a:rPr>
              <a:t>•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71232" y="2254568"/>
            <a:ext cx="4087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41B13"/>
                </a:solidFill>
              </a:rPr>
              <a:t>Payment Method dan Location memiliki missing value paling besar.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15200" y="2821496"/>
            <a:ext cx="164592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8852A"/>
                </a:solidFill>
              </a:rPr>
              <a:t>•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571232" y="2803208"/>
            <a:ext cx="4087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41B13"/>
                </a:solidFill>
              </a:rPr>
              <a:t>Exploration menjadi dasar untuk menentukan strategi cleaning yang tepat.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360920" y="3877056"/>
            <a:ext cx="3566160" cy="310896"/>
          </a:xfrm>
          <a:prstGeom prst="rect">
            <a:avLst/>
          </a:prstGeom>
          <a:solidFill>
            <a:srgbClr val="F1E3D0"/>
          </a:solidFill>
          <a:ln w="12700">
            <a:solidFill>
              <a:srgbClr val="F1E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7406640" y="3904488"/>
            <a:ext cx="20683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41B13"/>
                </a:solidFill>
              </a:rPr>
              <a:t>Kolom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9571939" y="3904488"/>
            <a:ext cx="11411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241B13"/>
                </a:solidFill>
              </a:rPr>
              <a:t>Missing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7406640" y="4215384"/>
            <a:ext cx="20683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Location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9571939" y="4215384"/>
            <a:ext cx="11411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3.961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7406640" y="4526280"/>
            <a:ext cx="20683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Payment Method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9571939" y="4526280"/>
            <a:ext cx="11411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3.178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7406640" y="4837176"/>
            <a:ext cx="20683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Item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9571939" y="4837176"/>
            <a:ext cx="11411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969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7406640" y="5148072"/>
            <a:ext cx="20683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Price Per Unit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9571939" y="5148072"/>
            <a:ext cx="11411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533</a:t>
            </a:r>
            <a:endParaRPr lang="en-US" sz="112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8CB9A22-59BC-D4AA-C860-A61177347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Cleaning: Missing Value &amp; Format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Membersihkan nilai tidak valid dan memperbaiki struktur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5406" y="1462278"/>
            <a:ext cx="164592" cy="31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D8852A"/>
                </a:solidFill>
              </a:rPr>
              <a:t>•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721438" y="1443990"/>
            <a:ext cx="6382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UNKNOWN, ERROR, &lt;NA&gt;, dan nilai tidak valid diubah menjadi missing value.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406" y="1864614"/>
            <a:ext cx="164592" cy="31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D8852A"/>
                </a:solidFill>
              </a:rPr>
              <a:t>•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1438" y="1846326"/>
            <a:ext cx="6382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Kolom numerik dikonversi menggunakan pd.to_numeric().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06" y="2266950"/>
            <a:ext cx="164592" cy="31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D8852A"/>
                </a:solidFill>
              </a:rPr>
              <a:t>•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721438" y="2248662"/>
            <a:ext cx="6382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Transaction Date dikonversi menjadi datetime.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5406" y="2669286"/>
            <a:ext cx="164592" cy="31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D8852A"/>
                </a:solidFill>
              </a:rPr>
              <a:t>•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21438" y="2650998"/>
            <a:ext cx="6382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Nilai kosong pada Quantity, Price Per Unit, dan Total Spent diperbaiki menggunakan hubungan perhitungan antar kolom.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5406" y="3071622"/>
            <a:ext cx="164592" cy="31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D8852A"/>
                </a:solidFill>
              </a:rPr>
              <a:t>•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21438" y="3053334"/>
            <a:ext cx="6382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Payment Method dan Location diisi menggunakan random imputation terkontrol.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0082" y="1800665"/>
            <a:ext cx="4297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A4F2A"/>
                </a:solidFill>
              </a:rPr>
              <a:t>Total Spent = Quantity × Price Per Unit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0082" y="2244852"/>
            <a:ext cx="3840480" cy="0"/>
          </a:xfrm>
          <a:prstGeom prst="line">
            <a:avLst/>
          </a:prstGeom>
          <a:noFill/>
          <a:ln w="25400">
            <a:solidFill>
              <a:srgbClr val="D885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7611794" y="2756916"/>
            <a:ext cx="3749040" cy="384048"/>
          </a:xfrm>
          <a:prstGeom prst="rect">
            <a:avLst/>
          </a:prstGeom>
          <a:solidFill>
            <a:srgbClr val="F1E3D0"/>
          </a:solidFill>
          <a:ln w="12700">
            <a:solidFill>
              <a:srgbClr val="F1E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657514" y="2784348"/>
            <a:ext cx="2174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1B13"/>
                </a:solidFill>
              </a:rPr>
              <a:t>Pemeriksaan akhir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36199" y="2784348"/>
            <a:ext cx="11996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41B13"/>
                </a:solidFill>
              </a:rPr>
              <a:t>Hasil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57514" y="3168396"/>
            <a:ext cx="2174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Missing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36199" y="3168396"/>
            <a:ext cx="11996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57514" y="3552444"/>
            <a:ext cx="2174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Duplikat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36199" y="3552444"/>
            <a:ext cx="11996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57514" y="3936492"/>
            <a:ext cx="2174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Baris final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36199" y="3936492"/>
            <a:ext cx="11996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9.514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57514" y="4320540"/>
            <a:ext cx="2174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Kolom final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36199" y="4320540"/>
            <a:ext cx="11996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8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B369F5E-07C3-5750-A6EE-83B8C73C7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Cleaning: Outlier dengan IQR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Mendeteksi nilai ekstrem pada kolom numerik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06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974152132"/>
              </p:ext>
            </p:extLst>
          </p:nvPr>
        </p:nvGraphicFramePr>
        <p:xfrm>
          <a:off x="777240" y="141732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81228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INTERPRETASI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12280" y="17556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68312" y="173736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Quantity: 0 outlier.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12280" y="21745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68312" y="215625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Price Per Unit: 0 outlier.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10502" y="263063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66534" y="261234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Total Spent: 259 outlier.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12280" y="3096697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068312" y="3078409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Outlier Total Spent masih logis karena dapat terjadi dari Quantity tinggi dan harga unit tinggi.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10502" y="3622685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66534" y="3604397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Capping dilakukan pada dataframe salinan agar data utama tetap aman.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522CA9-BF5D-E5A8-9577-FA1EFFE6E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2399ED4-61CC-7E1E-A898-9317A72C61DE}"/>
              </a:ext>
            </a:extLst>
          </p:cNvPr>
          <p:cNvSpPr txBox="1"/>
          <p:nvPr/>
        </p:nvSpPr>
        <p:spPr>
          <a:xfrm>
            <a:off x="6810502" y="4252550"/>
            <a:ext cx="4782312" cy="1677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400" dirty="0"/>
              <a:t>Outlier pada Total Spent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dihapus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masih</a:t>
            </a:r>
            <a:r>
              <a:rPr lang="en-ID" sz="1400" dirty="0"/>
              <a:t> valid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transaksi</a:t>
            </a:r>
            <a:r>
              <a:rPr lang="en-ID" sz="1400" dirty="0"/>
              <a:t>. </a:t>
            </a:r>
            <a:r>
              <a:rPr lang="en-ID" sz="1400" dirty="0" err="1"/>
              <a:t>Namun</a:t>
            </a:r>
            <a:r>
              <a:rPr lang="en-ID" sz="1400" dirty="0"/>
              <a:t>, capping </a:t>
            </a:r>
            <a:r>
              <a:rPr lang="en-ID" sz="1400" dirty="0" err="1"/>
              <a:t>dilakukan</a:t>
            </a:r>
            <a:r>
              <a:rPr lang="en-ID" sz="1400" dirty="0"/>
              <a:t> pada </a:t>
            </a:r>
            <a:r>
              <a:rPr lang="en-ID" sz="1400" dirty="0" err="1"/>
              <a:t>dataframe</a:t>
            </a:r>
            <a:r>
              <a:rPr lang="en-ID" sz="1400" dirty="0"/>
              <a:t> </a:t>
            </a:r>
            <a:r>
              <a:rPr lang="en-ID" sz="1400" dirty="0" err="1"/>
              <a:t>salinan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mengurangi</a:t>
            </a:r>
            <a:r>
              <a:rPr lang="en-ID" sz="1400" dirty="0"/>
              <a:t> </a:t>
            </a:r>
            <a:r>
              <a:rPr lang="en-ID" sz="1400" dirty="0" err="1"/>
              <a:t>pengaruh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</a:t>
            </a:r>
            <a:r>
              <a:rPr lang="en-ID" sz="1400" dirty="0" err="1"/>
              <a:t>ekstrem</a:t>
            </a:r>
            <a:r>
              <a:rPr lang="en-ID" sz="1400" dirty="0"/>
              <a:t> </a:t>
            </a:r>
            <a:r>
              <a:rPr lang="en-ID" sz="1400" dirty="0" err="1"/>
              <a:t>saat</a:t>
            </a:r>
            <a:r>
              <a:rPr lang="en-ID" sz="1400" dirty="0"/>
              <a:t> proses scaling, </a:t>
            </a:r>
            <a:r>
              <a:rPr lang="en-ID" sz="1400" dirty="0" err="1"/>
              <a:t>sehingga</a:t>
            </a:r>
            <a:r>
              <a:rPr lang="en-ID" sz="1400" dirty="0"/>
              <a:t> data </a:t>
            </a:r>
            <a:r>
              <a:rPr lang="en-ID" sz="1400" dirty="0" err="1"/>
              <a:t>utama</a:t>
            </a:r>
            <a:r>
              <a:rPr lang="en-ID" sz="1400" dirty="0"/>
              <a:t> </a:t>
            </a:r>
            <a:r>
              <a:rPr lang="en-ID" sz="1400" dirty="0" err="1"/>
              <a:t>tetap</a:t>
            </a:r>
            <a:r>
              <a:rPr lang="en-ID" sz="1400" dirty="0"/>
              <a:t> </a:t>
            </a:r>
            <a:r>
              <a:rPr lang="en-ID" sz="1400" dirty="0" err="1"/>
              <a:t>terjaga</a:t>
            </a:r>
            <a:r>
              <a:rPr lang="en-ID" sz="1400" dirty="0"/>
              <a:t> </a:t>
            </a:r>
            <a:r>
              <a:rPr lang="en-ID" sz="1400" dirty="0" err="1"/>
              <a:t>keasliannya</a:t>
            </a:r>
            <a:r>
              <a:rPr lang="en-ID" sz="1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Data Manipulation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Membentuk data agar dapat menjawab kebutuhan presentasi bisnis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444752"/>
            <a:ext cx="10424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A4F2A"/>
                </a:solidFill>
              </a:rPr>
              <a:t>Strategi Peningkatan Revenue Cafe Berdasarkan Produk, Lokasi, Metode Pembayaran, dan Tren Waktu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7614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27432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Type conversion memastikan kolom dipakai sesuai fungsi analisis.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638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6152" y="31455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Filtering dan sorting membantu menemukan transaksi yang paling penting.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152" y="35478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Groupby mengubah transaksi detail menjadi ringkasan bisnis.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96849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39502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Feature engineering menambahkan informasi waktu dan kategori spending.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3708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52A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6152" y="43525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Scaling menyiapkan kolom numerik agar siap dianalisis lebih lanjut.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2B873C-1F73-382E-8D9C-CA39642C9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4A. Type Conversion &amp; 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Menambahkan atribut baru dari tanggal dan nilai transaksi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TYPE CONVERSION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1728216"/>
            <a:ext cx="3657600" cy="365760"/>
          </a:xfrm>
          <a:prstGeom prst="rect">
            <a:avLst/>
          </a:prstGeom>
          <a:solidFill>
            <a:srgbClr val="F1E3D0"/>
          </a:solidFill>
          <a:ln w="12700">
            <a:solidFill>
              <a:srgbClr val="F1E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868680" y="175564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41B13"/>
                </a:solidFill>
              </a:rPr>
              <a:t>Kolom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090672" y="17556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b="1" dirty="0">
                <a:solidFill>
                  <a:srgbClr val="241B13"/>
                </a:solidFill>
              </a:rPr>
              <a:t>Tipe akhir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68680" y="212140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1B13"/>
                </a:solidFill>
              </a:rPr>
              <a:t>Quantity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090672" y="212140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dirty="0">
                <a:solidFill>
                  <a:srgbClr val="64594F"/>
                </a:solidFill>
              </a:rPr>
              <a:t>integer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68680" y="24871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1B13"/>
                </a:solidFill>
              </a:rPr>
              <a:t>Price Per Unit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090672" y="248716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dirty="0">
                <a:solidFill>
                  <a:srgbClr val="64594F"/>
                </a:solidFill>
              </a:rPr>
              <a:t>float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68680" y="28529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1B13"/>
                </a:solidFill>
              </a:rPr>
              <a:t>Total Spent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090672" y="285292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dirty="0">
                <a:solidFill>
                  <a:srgbClr val="64594F"/>
                </a:solidFill>
              </a:rPr>
              <a:t>float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68680" y="32186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1B13"/>
                </a:solidFill>
              </a:rPr>
              <a:t>Transaction Date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3090672" y="321868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dirty="0">
                <a:solidFill>
                  <a:srgbClr val="64594F"/>
                </a:solidFill>
              </a:rPr>
              <a:t>datetime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988560" y="1408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8560" y="1746503"/>
            <a:ext cx="175204" cy="370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44592" y="1664208"/>
            <a:ext cx="581710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Year, Month, Month Name, dan Day Name dibuat dari Transaction Date.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8560" y="2157983"/>
            <a:ext cx="175204" cy="370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46242" y="2069084"/>
            <a:ext cx="614730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Spending Category dibuat dari Total Spent: Low, Medium, High, Very High.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88560" y="2605659"/>
            <a:ext cx="175204" cy="370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44592" y="2520696"/>
            <a:ext cx="581710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Kolom baru membantu analisis tren waktu dan segmentasi transaksi.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11880" y="4754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C956C"/>
                </a:solidFill>
              </a:rPr>
              <a:t>14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3611880" y="5230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kolom setelah feature engineering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309360" y="4754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8852A"/>
                </a:solidFill>
              </a:rPr>
              <a:t>4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6309360" y="5230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kategori spending</a:t>
            </a:r>
            <a:endParaRPr lang="en-US" sz="112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093B440-67E7-A72A-0A9E-8E04EBCC1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4B. Filtering &amp; Sorting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Mengambil transaksi penting dan mengurutkan prioritas analisis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FILTERING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7556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1737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High-value transaction: Total Spent ≥ 20.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21396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Premium product transaction: Price Per Unit ≥ 4.0.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2542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Filter lokasi: In-store atau Takeaway untuk membandingkan channel transaksi.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SORTING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17556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48272" y="1737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Sorting dilakukan berdasarkan Total Spent tertinggi.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1579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48272" y="21396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Tujuannya adalah melihat transaksi paling besar dan produk yang mendorong revenue.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48272" y="25420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Hasil sorting membantu memilih fokus rekomendasi bisnis.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709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8852A"/>
                </a:solidFill>
              </a:rPr>
              <a:t>1.009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34440" y="5184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transaksi high-value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892040" y="4709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F6F9F"/>
                </a:solidFill>
              </a:rPr>
              <a:t>3.547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4892040" y="5184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transaksi produk premium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549640" y="4709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C956C"/>
                </a:solidFill>
              </a:rPr>
              <a:t>Salad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549640" y="5184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594F"/>
                </a:solidFill>
              </a:rPr>
              <a:t>produk revenue tertinggi</a:t>
            </a:r>
            <a:endParaRPr lang="en-US" sz="112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70906C6-C4A4-DDC9-2D26-26256DB04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4C. Groupby: Revenue per Item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Agregasi untuk melihat produk paling berkontribusi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10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325880"/>
          <a:ext cx="6537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478268" y="1216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INSIGHT PRODUK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78268" y="1536192"/>
            <a:ext cx="3566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A4F2A"/>
                </a:solidFill>
              </a:rPr>
              <a:t>Salad menghasilkan revenue tertinggi: 18.220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478268" y="26974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852A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34300" y="26791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Produk premium mendominasi revenue atas.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78268" y="314325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852A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34300" y="312496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Sandwich dan Smoothie juga kuat karena harga unit tinggi.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78268" y="36438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852A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34300" y="36255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1B13"/>
                </a:solidFill>
              </a:rPr>
              <a:t>Cookie dan Tea berada di posisi bawah sehingga cocok untuk strategi bundling.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78268" y="4681728"/>
            <a:ext cx="3154680" cy="292608"/>
          </a:xfrm>
          <a:prstGeom prst="rect">
            <a:avLst/>
          </a:prstGeom>
          <a:solidFill>
            <a:srgbClr val="F1E3D0"/>
          </a:solidFill>
          <a:ln w="12700">
            <a:solidFill>
              <a:srgbClr val="F1E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7523988" y="4709160"/>
            <a:ext cx="18297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41B13"/>
                </a:solidFill>
              </a:rPr>
              <a:t>Item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9434170" y="4709160"/>
            <a:ext cx="1009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241B13"/>
                </a:solidFill>
              </a:rPr>
              <a:t>Revenue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523988" y="5001768"/>
            <a:ext cx="18297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Salad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434170" y="5001768"/>
            <a:ext cx="1009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18.220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7523988" y="5294376"/>
            <a:ext cx="18297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Sandwich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9434170" y="5294376"/>
            <a:ext cx="1009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14.448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7523988" y="5586984"/>
            <a:ext cx="18297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1B13"/>
                </a:solidFill>
              </a:rPr>
              <a:t>Smoothie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9434170" y="5586984"/>
            <a:ext cx="1009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4594F"/>
                </a:solidFill>
              </a:rPr>
              <a:t>14.072</a:t>
            </a:r>
            <a:endParaRPr lang="en-US" sz="112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F21147-060F-7C7F-0C3C-642CE6FD9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51F4-5B94-9962-ECFA-04BC12A8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E33091-56A0-271F-0100-51D6EFEDEA59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9F8DAF-9D1B-07F1-5A4B-18328E10282D}"/>
              </a:ext>
            </a:extLst>
          </p:cNvPr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4C. Groupby: Payment Method &amp; Location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A8C06D-EA6D-A1EE-B70F-EE3150BEC8FD}"/>
              </a:ext>
            </a:extLst>
          </p:cNvPr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Agregasi channel pembayaran dan lokasi transaksi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5FD40E-4E99-B70F-E04A-BE1A0A1097F1}"/>
              </a:ext>
            </a:extLst>
          </p:cNvPr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103A7A-E034-4628-5331-AD08E54E833A}"/>
              </a:ext>
            </a:extLst>
          </p:cNvPr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456B8C-7B38-D1CF-D95D-CEC0A021633E}"/>
              </a:ext>
            </a:extLst>
          </p:cNvPr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11</a:t>
            </a:r>
            <a:endParaRPr lang="en-US" sz="80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A6A0A6B2-7A86-C13F-AD58-ECC84945A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6616853"/>
              </p:ext>
            </p:extLst>
          </p:nvPr>
        </p:nvGraphicFramePr>
        <p:xfrm>
          <a:off x="685800" y="1371600"/>
          <a:ext cx="5029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211ECE1D-3796-5D50-14BC-F95D484D3D0A}"/>
              </a:ext>
            </a:extLst>
          </p:cNvPr>
          <p:cNvGraphicFramePr/>
          <p:nvPr/>
        </p:nvGraphicFramePr>
        <p:xfrm>
          <a:off x="6172200" y="1371600"/>
          <a:ext cx="48920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>
            <a:extLst>
              <a:ext uri="{FF2B5EF4-FFF2-40B4-BE49-F238E27FC236}">
                <a16:creationId xmlns:a16="http://schemas.microsoft.com/office/drawing/2014/main" id="{811A9B09-430D-7C37-3D67-C3E99B7CC3D7}"/>
              </a:ext>
            </a:extLst>
          </p:cNvPr>
          <p:cNvSpPr/>
          <p:nvPr/>
        </p:nvSpPr>
        <p:spPr>
          <a:xfrm>
            <a:off x="914400" y="55046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852A"/>
                </a:solidFill>
              </a:rPr>
              <a:t>•</a:t>
            </a:r>
            <a:endParaRPr lang="en-US" sz="13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986BC3D-038C-3393-DE28-338CCD17D326}"/>
              </a:ext>
            </a:extLst>
          </p:cNvPr>
          <p:cNvSpPr/>
          <p:nvPr/>
        </p:nvSpPr>
        <p:spPr>
          <a:xfrm>
            <a:off x="1170432" y="5486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1B13"/>
                </a:solidFill>
              </a:rPr>
              <a:t>Revenue payment method relatif seimbang antara Kartu Kredit, Tunai, dan Dompet Digital.</a:t>
            </a: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D8488E9-4D6D-0232-63DC-71C2DB9980BB}"/>
              </a:ext>
            </a:extLst>
          </p:cNvPr>
          <p:cNvSpPr/>
          <p:nvPr/>
        </p:nvSpPr>
        <p:spPr>
          <a:xfrm>
            <a:off x="914400" y="579729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852A"/>
                </a:solidFill>
              </a:rPr>
              <a:t>•</a:t>
            </a:r>
            <a:endParaRPr lang="en-US" sz="13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86B1A53-E265-C592-14BC-ED1AFC535BAD}"/>
              </a:ext>
            </a:extLst>
          </p:cNvPr>
          <p:cNvSpPr/>
          <p:nvPr/>
        </p:nvSpPr>
        <p:spPr>
          <a:xfrm>
            <a:off x="1170432" y="57790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1B13"/>
                </a:solidFill>
              </a:rPr>
              <a:t>In-store sedikit lebih tinggi dari Takeaway, tetapi selisihnya kecil.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965442-81CD-A004-B249-EA0A7084F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73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4C. Groupby: Tren Revenue Bulanan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Melihat pola revenue sepanjang tahun 2023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12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325880"/>
          <a:ext cx="75895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8535670" y="1604519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C956C"/>
                </a:solidFill>
              </a:rPr>
              <a:t>Revenue tertinggi: Juni 7.353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535670" y="2747519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C44536"/>
                </a:solidFill>
              </a:rPr>
              <a:t>Revenue terendah: Februari 6.644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535670" y="370433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D8852A"/>
                </a:solidFill>
              </a:rPr>
              <a:t>•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8791702" y="3686050"/>
            <a:ext cx="286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1B13"/>
                </a:solidFill>
              </a:rPr>
              <a:t>Tren revenue relatif stabil sepanjang tahun.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35670" y="416649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D8852A"/>
                </a:solidFill>
              </a:rPr>
              <a:t>•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8791702" y="4148203"/>
            <a:ext cx="286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1B13"/>
                </a:solidFill>
              </a:rPr>
              <a:t>Tidak terlihat penurunan ekstrem.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35670" y="46286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D8852A"/>
                </a:solidFill>
              </a:rPr>
              <a:t>•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8791702" y="4610356"/>
            <a:ext cx="286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1B13"/>
                </a:solidFill>
              </a:rPr>
              <a:t>Promosi dapat difokuskan pada bulan dengan revenue lebih rendah.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99F152-D5C8-2589-7B16-F9C57B5A9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Output Final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Membandingkan kondisi data sebelum dan sesudah siap dianalisis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SEBELUM CLEANING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1728216"/>
            <a:ext cx="3886200" cy="411480"/>
          </a:xfrm>
          <a:prstGeom prst="rect">
            <a:avLst/>
          </a:prstGeom>
          <a:solidFill>
            <a:srgbClr val="F1E3D0"/>
          </a:solidFill>
          <a:ln w="12700">
            <a:solidFill>
              <a:srgbClr val="F1E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1B13"/>
                </a:solidFill>
              </a:rPr>
              <a:t>Aspek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8124" y="175564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41B13"/>
                </a:solidFill>
              </a:rPr>
              <a:t>Nilai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6712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Baris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8124" y="21671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10.000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7860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Kolom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8124" y="25786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9008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Missing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78124" y="299008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40156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Tipe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78124" y="340156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Belum rapi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852A"/>
                </a:solidFill>
              </a:rPr>
              <a:t>SESUDAH CLEANING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728216"/>
            <a:ext cx="3886200" cy="411480"/>
          </a:xfrm>
          <a:prstGeom prst="rect">
            <a:avLst/>
          </a:prstGeom>
          <a:solidFill>
            <a:srgbClr val="F1E3D0"/>
          </a:solidFill>
          <a:ln w="12700">
            <a:solidFill>
              <a:srgbClr val="F1E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309360" y="175564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1B13"/>
                </a:solidFill>
              </a:rPr>
              <a:t>Aspek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73084" y="175564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41B13"/>
                </a:solidFill>
              </a:rPr>
              <a:t>Nilai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16712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Baris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73084" y="21671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9.514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57860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Kolom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73084" y="25786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99008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Missing value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73084" y="299008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3401568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B13"/>
                </a:solidFill>
              </a:rPr>
              <a:t>Duplikat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73084" y="340156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594F"/>
                </a:solidFill>
              </a:rPr>
              <a:t>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68680" y="4251960"/>
            <a:ext cx="10012680" cy="0"/>
          </a:xfrm>
          <a:prstGeom prst="line">
            <a:avLst/>
          </a:prstGeom>
          <a:noFill/>
          <a:ln w="12700">
            <a:solidFill>
              <a:srgbClr val="E9E2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960120" y="46817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16152" y="46634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Nilai hilang sudah ditangani melalui perhitungan, mapping, drop baris tertentu, dan random imputation.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50657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852A"/>
                </a:solidFill>
              </a:rPr>
              <a:t>•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16152" y="50474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1B13"/>
                </a:solidFill>
              </a:rPr>
              <a:t>Duplikat tidak ditemukan pada dataset akhir.</a:t>
            </a:r>
            <a:endParaRPr lang="en-US" sz="15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A0B149C-5F51-71A9-FC93-E2863B96F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Pendapat terhadap Hasil Eksplorasi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Interpretasi hasil untuk ketua department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15179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D8852A"/>
                </a:solidFill>
              </a:rPr>
              <a:t>•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1188720" y="14996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41B13"/>
                </a:solidFill>
              </a:rPr>
              <a:t>Salad menjadi produk paling kuat dari sisi revenue karena harga unit tinggi dan jumlah transaksi cukup besar.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932688" y="19568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D8852A"/>
                </a:solidFill>
              </a:rPr>
              <a:t>•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188720" y="19385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41B13"/>
                </a:solidFill>
              </a:rPr>
              <a:t>Metode pembayaran relatif seimbang, sehingga cafe perlu tetap menjaga semua channel pembayaran.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932688" y="23957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D8852A"/>
                </a:solidFill>
              </a:rPr>
              <a:t>•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41B13"/>
                </a:solidFill>
              </a:rPr>
              <a:t>Lokasi In-store sedikit lebih unggul, </a:t>
            </a:r>
            <a:r>
              <a:rPr lang="en-US" sz="1560" dirty="0" err="1">
                <a:solidFill>
                  <a:srgbClr val="241B13"/>
                </a:solidFill>
              </a:rPr>
              <a:t>tetapi</a:t>
            </a:r>
            <a:r>
              <a:rPr lang="en-US" sz="1560" dirty="0">
                <a:solidFill>
                  <a:srgbClr val="241B13"/>
                </a:solidFill>
              </a:rPr>
              <a:t> takeaway tetap sangat penting karena kontribusinya hampir sama.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932688" y="28346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D8852A"/>
                </a:solidFill>
              </a:rPr>
              <a:t>•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188720" y="2816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241B13"/>
                </a:solidFill>
              </a:rPr>
              <a:t>Revenue bulanan stabil, sehingga strategi yang cocok bukan perbaikan darurat, tetapi optimasi produk dan promosi terarah.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932688" y="5321808"/>
            <a:ext cx="9966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A4F2A"/>
                </a:solidFill>
              </a:rPr>
              <a:t>Kesimpulan utama: fokus revenue terbaik adalah memperkuat produk premium dan membuat promosi pada bulan yang lebih rendah.</a:t>
            </a:r>
            <a:endParaRPr lang="en-US" sz="2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BEE92-9D0A-2437-2FCC-C9009C2D6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E1DE6-D881-BE64-7D1A-EAA15F0C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5AF3F9-C738-F7D1-7E3F-AFE82E0022AA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4F2A"/>
          </a:solidFill>
          <a:ln w="12700">
            <a:solidFill>
              <a:srgbClr val="7A4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121F1F-EAC6-B763-6AC2-A460B243D7C4}"/>
              </a:ext>
            </a:extLst>
          </p:cNvPr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1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Rekomendasi Akhir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144A6F-01DA-51FF-150D-7C9375F17824}"/>
              </a:ext>
            </a:extLst>
          </p:cNvPr>
          <p:cNvSpPr/>
          <p:nvPr/>
        </p:nvSpPr>
        <p:spPr>
          <a:xfrm>
            <a:off x="585216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594F"/>
                </a:solidFill>
              </a:rPr>
              <a:t>Langkah yang dapat dilakukan berdasarkan hasil analisis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4C3F85B-BACA-1C1F-BA73-ACCC280D4C73}"/>
              </a:ext>
            </a:extLst>
          </p:cNvPr>
          <p:cNvSpPr/>
          <p:nvPr/>
        </p:nvSpPr>
        <p:spPr>
          <a:xfrm>
            <a:off x="585216" y="1143000"/>
            <a:ext cx="1143000" cy="50292"/>
          </a:xfrm>
          <a:prstGeom prst="rect">
            <a:avLst/>
          </a:prstGeom>
          <a:solidFill>
            <a:srgbClr val="D8852A"/>
          </a:solidFill>
          <a:ln w="12700">
            <a:solidFill>
              <a:srgbClr val="D88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89347A-5F62-2980-4627-6EAB79292B65}"/>
              </a:ext>
            </a:extLst>
          </p:cNvPr>
          <p:cNvSpPr/>
          <p:nvPr/>
        </p:nvSpPr>
        <p:spPr>
          <a:xfrm>
            <a:off x="566928" y="6547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594F"/>
                </a:solidFill>
              </a:rPr>
              <a:t>Analisis Data Penjualan Cafe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0FAF3D-76D8-6622-F707-68A4FCCED292}"/>
              </a:ext>
            </a:extLst>
          </p:cNvPr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3B02F2-7765-FA4F-BB8A-ECD759155254}"/>
              </a:ext>
            </a:extLst>
          </p:cNvPr>
          <p:cNvSpPr/>
          <p:nvPr/>
        </p:nvSpPr>
        <p:spPr>
          <a:xfrm>
            <a:off x="914400" y="15270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D8852A"/>
                </a:solidFill>
              </a:rPr>
              <a:t>•</a:t>
            </a:r>
            <a:endParaRPr lang="en-US" sz="162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077AD4-EC16-8DD7-6A4D-E7A134C81465}"/>
              </a:ext>
            </a:extLst>
          </p:cNvPr>
          <p:cNvSpPr/>
          <p:nvPr/>
        </p:nvSpPr>
        <p:spPr>
          <a:xfrm>
            <a:off x="1170432" y="1508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Buat bundling produk premium seperti Salad, Sandwich, dan Smoothie untuk menaikkan rata-rata transaksi.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57A044-019B-129B-BA76-32F7A590491A}"/>
              </a:ext>
            </a:extLst>
          </p:cNvPr>
          <p:cNvSpPr/>
          <p:nvPr/>
        </p:nvSpPr>
        <p:spPr>
          <a:xfrm>
            <a:off x="914400" y="20025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D8852A"/>
                </a:solidFill>
              </a:rPr>
              <a:t>•</a:t>
            </a:r>
            <a:endParaRPr lang="en-US" sz="162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32A77F-D551-88C5-FA85-96E8762FF02E}"/>
              </a:ext>
            </a:extLst>
          </p:cNvPr>
          <p:cNvSpPr/>
          <p:nvPr/>
        </p:nvSpPr>
        <p:spPr>
          <a:xfrm>
            <a:off x="1170432" y="19842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Gunakan promosi pada bulan Februari dan September yang memiliki revenue relatif lebih rendah.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009E024-466D-567F-E680-CDA5B427876D}"/>
              </a:ext>
            </a:extLst>
          </p:cNvPr>
          <p:cNvSpPr/>
          <p:nvPr/>
        </p:nvSpPr>
        <p:spPr>
          <a:xfrm>
            <a:off x="914400" y="24780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D8852A"/>
                </a:solidFill>
              </a:rPr>
              <a:t>•</a:t>
            </a:r>
            <a:endParaRPr lang="en-US" sz="162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58441D-BF1C-63FF-51A6-972A8AF8B51A}"/>
              </a:ext>
            </a:extLst>
          </p:cNvPr>
          <p:cNvSpPr/>
          <p:nvPr/>
        </p:nvSpPr>
        <p:spPr>
          <a:xfrm>
            <a:off x="1170432" y="24597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1B13"/>
                </a:solidFill>
              </a:rPr>
              <a:t>Pertahankan opsi pembayaran lengkap karena ketiga metode memiliki kontribusi yang hampir seimbang.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B735FC-3D97-7396-D4CB-3451F2A85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5750" y="-162052"/>
            <a:ext cx="1895601" cy="12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20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594F"/>
                </a:solidFill>
              </a:rPr>
              <a:t>16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4780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3587623" y="2893822"/>
            <a:ext cx="5016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7A4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6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1172</Words>
  <Application>Microsoft Office PowerPoint</Application>
  <PresentationFormat>Widescreen</PresentationFormat>
  <Paragraphs>283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Data Penjualan Cafe</dc:title>
  <dc:subject>Analisis Data Penjualan Cafe</dc:subject>
  <dc:creator>OpenAI</dc:creator>
  <cp:lastModifiedBy>IZZAN MUHAMMAD FA'IZ</cp:lastModifiedBy>
  <cp:revision>4</cp:revision>
  <dcterms:created xsi:type="dcterms:W3CDTF">2026-05-10T19:35:57Z</dcterms:created>
  <dcterms:modified xsi:type="dcterms:W3CDTF">2026-06-18T16:27:23Z</dcterms:modified>
</cp:coreProperties>
</file>